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61" r:id="rId5"/>
    <p:sldId id="262" r:id="rId6"/>
    <p:sldId id="267" r:id="rId7"/>
    <p:sldId id="268" r:id="rId8"/>
    <p:sldId id="269" r:id="rId9"/>
    <p:sldId id="287" r:id="rId10"/>
    <p:sldId id="271" r:id="rId11"/>
    <p:sldId id="275" r:id="rId12"/>
    <p:sldId id="276" r:id="rId13"/>
    <p:sldId id="289" r:id="rId14"/>
    <p:sldId id="290" r:id="rId15"/>
    <p:sldId id="291" r:id="rId16"/>
    <p:sldId id="292" r:id="rId17"/>
    <p:sldId id="288" r:id="rId18"/>
    <p:sldId id="277" r:id="rId19"/>
    <p:sldId id="28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433052" y="2244213"/>
            <a:ext cx="9500420" cy="1104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b="1" dirty="0">
              <a:solidFill>
                <a:srgbClr val="0070C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169" y="223390"/>
            <a:ext cx="7178041" cy="1747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7621" y="1951625"/>
            <a:ext cx="746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0762" y="4869426"/>
            <a:ext cx="35052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YUVARAJAN 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Reg. No: 421123102175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Final Year B.E. (CSE)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0305" y="4975202"/>
            <a:ext cx="458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endParaRPr lang="en-GB" spc="-1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9459" y="4756842"/>
            <a:ext cx="5183151" cy="10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SUPERVISOR: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Mrs. MANIMEGALAI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Assistant Professor, Dept of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929" y="5319254"/>
            <a:ext cx="4931764" cy="10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95368" y="3105950"/>
            <a:ext cx="493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SUBJECT CODE: 23CS8701 | SECOND PROJECT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7354" y="3608700"/>
            <a:ext cx="9931195" cy="47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PROJECT TITLE:</a:t>
            </a:r>
          </a:p>
          <a:p>
            <a:pPr>
              <a:defRPr sz="1600" b="1">
                <a:solidFill>
                  <a:srgbClr val="0284C7"/>
                </a:solidFill>
              </a:defRPr>
            </a:pPr>
            <a:r>
              <a:t>Privacy-Preserving Federated Learning Telemedicine Platform</a:t>
            </a:r>
          </a:p>
          <a:p>
            <a:r>
              <a:t>for AI-Assisted Liver Disease Screening (FedLiverNet)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816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OUTLINE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877451"/>
            <a:ext cx="1069848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1. Recap of Review 1 &amp; Review 1 Comments / Action Taken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2. Problem Statement &amp; Research Objectives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3. Literature Survey (10 Recent Scopus/SCI Papers) &amp; Research Gap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4. Proposed System Architecture &amp; Edge Telemedicine Design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5. Design of Proposed Work: Real LiTS CT Pipeline &amp; Non-IID Partitioning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6. Mathematical Formulation &amp; Flowcharts (CFL-Lite &amp; Additive Masking)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7. Simulation Environment, Real CT Dataset Specifications &amp; Parameters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8. Simulation Results &amp; Comprehensive Discussion (Real LiTS Benchmark)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9. Program Outcomes (POs) &amp; PSOs Mapping (CSE Specific)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10. UN Sustainable Development Goals (SDGs 3, 9, 10, 12)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11. Project Outcome, Publication Status, % Completion &amp; Next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5104" y="310896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Recap and Review 1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b="1" sz="1200">
                <a:solidFill>
                  <a:srgbClr val="0284C7"/>
                </a:solidFill>
              </a:defRPr>
            </a:pPr>
            <a:r>
              <a:t>• Foundational Base Paper Studied: </a:t>
            </a:r>
            <a:r>
              <a:rPr b="0">
                <a:solidFill>
                  <a:srgbClr val="334155"/>
                </a:solidFill>
              </a:rPr>
              <a:t>Lou et al. (Nature Scientific Reports, 2026) — FedLiverNet framework combining federated learning, liver segmentation, differential privacy, and clustered personalization.</a:t>
            </a:r>
          </a:p>
          <a:p>
            <a:pPr>
              <a:defRPr b="1" sz="1200">
                <a:solidFill>
                  <a:srgbClr val="0284C7"/>
                </a:solidFill>
              </a:defRPr>
            </a:pPr>
            <a:r>
              <a:t>• Architectural Formulation Completed: </a:t>
            </a:r>
            <a:r>
              <a:rPr b="0">
                <a:solidFill>
                  <a:srgbClr val="334155"/>
                </a:solidFill>
              </a:rPr>
              <a:t>Formulated 2D Attention U-Net-Lite with GroupNorm (G=8) and Soft Attention Gates to address class imbalance and severe GPU memory constraints of 3D models.</a:t>
            </a:r>
          </a:p>
          <a:p>
            <a:pPr>
              <a:defRPr b="1" sz="1200">
                <a:solidFill>
                  <a:srgbClr val="0284C7"/>
                </a:solidFill>
              </a:defRPr>
            </a:pPr>
            <a:r>
              <a:t>• Proposed Personalization Strategy: </a:t>
            </a:r>
            <a:r>
              <a:rPr b="0">
                <a:solidFill>
                  <a:srgbClr val="334155"/>
                </a:solidFill>
              </a:rPr>
              <a:t>Conceptualized CFL-Lite (cosine similarity clustering of parameter updates + 1 local fine-tuning epoch) to resolve non-IID lesion forgetting.</a:t>
            </a:r>
          </a:p>
          <a:p>
            <a:pPr>
              <a:defRPr b="1" sz="1200">
                <a:solidFill>
                  <a:srgbClr val="0284C7"/>
                </a:solidFill>
              </a:defRPr>
            </a:pPr>
            <a:r>
              <a:t>• Privacy &amp; Edge Telemedicine Vision: </a:t>
            </a:r>
            <a:r>
              <a:rPr b="0">
                <a:solidFill>
                  <a:srgbClr val="334155"/>
                </a:solidFill>
              </a:rPr>
              <a:t>Outlined Client-Level Differential Privacy and Zero-Sum Additive Masking for raw-data protection, paired with local SQLite offline synchronization.</a:t>
            </a:r>
          </a:p>
          <a:p>
            <a:pPr>
              <a:defRPr b="1" sz="1200">
                <a:solidFill>
                  <a:srgbClr val="0284C7"/>
                </a:solidFill>
              </a:defRPr>
            </a:pPr>
            <a:r>
              <a:t>• Review-I Milestone Achieved: </a:t>
            </a:r>
            <a:r>
              <a:rPr b="0">
                <a:solidFill>
                  <a:srgbClr val="334155"/>
                </a:solidFill>
              </a:rPr>
              <a:t>Modular codebase established, synthetic pipeline validated, and experimental protocols frozen for Phase 2 real-data transition.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Review 1 Comments and Actions Taken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812985"/>
              </p:ext>
            </p:extLst>
          </p:nvPr>
        </p:nvGraphicFramePr>
        <p:xfrm>
          <a:off x="563880" y="1566672"/>
          <a:ext cx="11064240" cy="4224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1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Panel 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400" b="1">
                          <a:solidFill>
                            <a:schemeClr val="bg1"/>
                          </a:solidFill>
                          <a:latin typeface="Times New Roman"/>
                        </a:rP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 Validate model performance on real clinical CT data (not synthetic alone).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Acquired official LiTS 2017 benchmark (51 volumes); extracted 782 axial slices from a 6-patient volumetric cohort ([-100, 400] HU); enforced strict patient-level splitting (zero train/val/test slice leakage).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Completed (Verified)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 Provide formal privacy guarantees, accounting, and institutional threat model.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Implemented Client-Level DP with analytical Rényi composition (reported budget ε=6.42, δ=10⁻⁵ over 3 rounds with C=1.0, σ=0.5); published formal Threat Model (docs/THREAT_MODEL.md); verified dropout safety via 4 unit tests.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Completed (Verified)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 Incorporate clinical distance-based boundary metrics (HD95) alongside Dice score.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Implemented 95th Percentile Hausdorff Distance (HD95 in mm) using SciPy Euclidean Distance Transform (distance_transform_edt) to penalize contour discrepancies.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Completed (Verified)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 Demonstrate operational feasibility on low-bandwidth rural edge nodes.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Demonstrated zero raw CT image transmission; evaluated Top-20% sparsification (4.9× bandwidth reduction, 13.84 MB → 2.82 MB/round); verified SQLite WAL queue store-and-forward replay with zero packet loss.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Completed (Verified)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0992" y="320040"/>
            <a:ext cx="90952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Problem 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Statement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4592" y="241679"/>
            <a:ext cx="5307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Literature</a:t>
            </a: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Survey</a:t>
            </a:r>
            <a:endParaRPr sz="3200" b="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22504"/>
              </p:ext>
            </p:extLst>
          </p:nvPr>
        </p:nvGraphicFramePr>
        <p:xfrm>
          <a:off x="548640" y="1554480"/>
          <a:ext cx="1106424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Lou et al., Nature Sci Rep,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U-Net/TransUNet + FL + DP + CFL-LA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Tumor Dice 0.891; 23% comm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Heavy 3D volumetric model (8x A100s required)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Kumar et al., IEEE JBHI,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 + Tree Ensembles +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99% accuracy on tabular clinical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Tabular EHR only; lacks CT pixel segmentation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Lee et al., MedIA,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Teacher-Student Semi-Supervised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Pseudo-labeling reduces annotation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No clustering; vulnerable to non-IID drift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PCRFed, CVPR,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Contrastive Representation + Personal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Consistent feature space across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High computational overhead on edge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Healthcare FL Review,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PRISMA Survey (DP + HE + SecAgg)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Highlights theory-practice validation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Identifies privacy budget &amp; dropout 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Mir et al., J Med Ethics,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 Ethics &amp; Institutional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Highlights disparity across rural hospitals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Conceptual analysis without ML code benchmark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Zhao et al., ACM Health,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Multi-Source EHR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Aligns heterogeneous hospital feature 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Tabular clinical variables, not imaging 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FedBound, IEEE TMI,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Boundary-Aware Medical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Targets boundary degradation under non-IID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Motivates our HD95 distance contour metric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Perez et al., Lancet Dig Health,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Rural Telemedicine AI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Identified connectivity dropout as main 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Motivates SQLite store-and-forward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McMahan et al., Nature Med,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Canonical FedAvg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Global collaborative parameter averaging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Suffers severe utility loss under clinical skew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9DA03-E6F8-1DC5-17B3-3301ED7E830F}"/>
              </a:ext>
            </a:extLst>
          </p:cNvPr>
          <p:cNvSpPr txBox="1"/>
          <p:nvPr/>
        </p:nvSpPr>
        <p:spPr>
          <a:xfrm>
            <a:off x="548640" y="5893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(10 Recent Peer-Reviewed Papers: 2024–2026)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35424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Research Gap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Proposed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Method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(Block Diagram)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81A95-0336-CB41-A76C-3010F50A9323}"/>
              </a:ext>
            </a:extLst>
          </p:cNvPr>
          <p:cNvSpPr txBox="1"/>
          <p:nvPr/>
        </p:nvSpPr>
        <p:spPr>
          <a:xfrm>
            <a:off x="1731264" y="40886"/>
            <a:ext cx="6851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Design of the proposed work  </a:t>
            </a:r>
          </a:p>
        </p:txBody>
      </p:sp>
    </p:spTree>
    <p:extLst>
      <p:ext uri="{BB962C8B-B14F-4D97-AF65-F5344CB8AC3E}">
        <p14:creationId xmlns:p14="http://schemas.microsoft.com/office/powerpoint/2010/main" val="34596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-33903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Flow Diagram/Algorithm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Simulation 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Software and Parameters 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1865" y="148590"/>
            <a:ext cx="5547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Results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 and Discussion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60F37-8A16-3A3C-8BDB-AEF39FFA1693}"/>
              </a:ext>
            </a:extLst>
          </p:cNvPr>
          <p:cNvSpPr txBox="1"/>
          <p:nvPr/>
        </p:nvSpPr>
        <p:spPr>
          <a:xfrm>
            <a:off x="1438656" y="1720840"/>
            <a:ext cx="80345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241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371600"/>
                <a:gridCol w="1371600"/>
                <a:gridCol w="13716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Learning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Dice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Liver Dice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Tumor Dice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HD95 (mm)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Inter-Client σ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Centralized Pooled (Upper Bound)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0.7410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0.6447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0.8372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FedAvg (Non-IID Collaborative)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57.56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FedAvg + CFL-Lite (Personalized Flagship)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0.6405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0.5135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0.7674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22.62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0.1023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0284C7"/>
                </a:solidFill>
              </a:defRPr>
            </a:pPr>
            <a:r>
              <a:t>Preliminary Benchmark Findings on Real LiTS CT Cohort (Investigational Prototype):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Lesion Recovery (+34.3% Tumor Dice): </a:t>
            </a:r>
            <a:r>
              <a:rPr b="0">
                <a:solidFill>
                  <a:srgbClr val="334155"/>
                </a:solidFill>
              </a:rPr>
              <a:t>CFL-Lite achieves 0.7674 Tumor Dice vs. 0.4244 in standard FedAvg, preventing the catastrophic forgetting of minority lesions caused by institutional pathology skew under non-IID data.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Tumor Margin Precision (-60.7% Boundary Error): </a:t>
            </a:r>
            <a:r>
              <a:rPr b="0">
                <a:solidFill>
                  <a:srgbClr val="334155"/>
                </a:solidFill>
              </a:rPr>
              <a:t>Tumor 95th Percentile Hausdorff Distance decreases from 57.56 mm to 22.62 mm, closely approaching the centralized ceiling (16.28 mm) and ensuring tight boundary delineation.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Overall Segmentation Quality (+22.3% Mean Dice): </a:t>
            </a:r>
            <a:r>
              <a:rPr b="0">
                <a:solidFill>
                  <a:srgbClr val="334155"/>
                </a:solidFill>
              </a:rPr>
              <a:t>Mean Dice improves from 0.4173 to 0.6405 on held-out test slices, demonstrating that local adaptation after clustered gradient aggregation enables hospital specialization without transmitting raw CT scans.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29184" y="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000000"/>
                </a:solidFill>
                <a:latin typeface="Times New Roman"/>
              </a:rPr>
              <a:t>PO / PSO Mapping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694944"/>
          <a:ext cx="1106424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PO4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PO5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PO6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PO7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PO8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PO9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PO10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PSO3</a:t>
                      </a:r>
                    </a:p>
                  </a:txBody>
                  <a:tcPr marL="18288" marR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328031"/>
              </p:ext>
            </p:extLst>
          </p:nvPr>
        </p:nvGraphicFramePr>
        <p:xfrm>
          <a:off x="158496" y="2051304"/>
          <a:ext cx="11728705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3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Applied mathematical foundations of federated optimization, cosine distance metrics, and convolutional differential calculus for liver CT segmentation.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Formulated and analyzed the non-IID client drift problem and gradient inversion attack vulnerabilities in multi-hospital healthcare networks.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Designed and engineered the complete FedLiverNet platform: 2D Attention U-Net-Lite, CFL-Lite personalization, and zero-sum masked secure aggregation.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Conducted empirical investigations on real LiTS benchmark CT scans measuring Dice, IoU, 95th percentile Hausdorff Distance (HD95), and CPU latency.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Utilized modern software engineering tools including PyTorch 2.14, Flower FL, TorchScript, SQLite WAL, and Git for version-controlled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Addressed healthcare equity and privacy preservation by enabling rural telemedicine diagnostic screening without exposing sensitive patient medical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E5833A5-3EC6-BEB4-9EF9-B24BE4708FE2}"/>
              </a:ext>
            </a:extLst>
          </p:cNvPr>
          <p:cNvSpPr txBox="1"/>
          <p:nvPr/>
        </p:nvSpPr>
        <p:spPr>
          <a:xfrm>
            <a:off x="158496" y="1534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2400" b="1" i="0" dirty="0">
                <a:solidFill>
                  <a:srgbClr val="000000"/>
                </a:solidFill>
                <a:latin typeface="Times New Roman"/>
              </a:rPr>
              <a:t>POs Learnt (PO1 – PO6)</a:t>
            </a:r>
            <a:endParaRPr lang="en-IN" sz="2400" b="1" i="0" dirty="0">
              <a:solidFill>
                <a:srgbClr val="FF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POs Learnt (PO7 – PO12)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68769"/>
              </p:ext>
            </p:extLst>
          </p:nvPr>
        </p:nvGraphicFramePr>
        <p:xfrm>
          <a:off x="548640" y="128016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Promoted sustainable and green AI through 79.6% communication compression (Top-20% sparsification) and edge CPU inference reducing datacenter carbon footprint.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Adhered strictly to medical research ethics, HIPAA/GDPR data governance guidelines, and reproducible open-science scientific practices.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Demonstrated autonomous technical project execution across data engineering, deep learning, cryptographic masking, and web deployment.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Prepared comprehensive technical documentation, system architectural threat models, engineering design documents, and formal slide presentations.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Managed computational resources effectively by developing CPU-feasible 2D architectures that eliminate the need for prohibitive multi-GPU server clusters.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Committed to lifelong learning by self-studying advanced federated learning paradigms, differential privacy mathematics, and clinical medical imaging standards.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EF31C9-36CB-83F0-4C9B-241A0AAC8A11}"/>
              </a:ext>
            </a:extLst>
          </p:cNvPr>
          <p:cNvSpPr txBox="1"/>
          <p:nvPr/>
        </p:nvSpPr>
        <p:spPr>
          <a:xfrm>
            <a:off x="158496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PSOs Learnt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012753"/>
              </p:ext>
            </p:extLst>
          </p:nvPr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PSO1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Applied core computer science principles in distributed computing, network communication, cryptographic masking, and database persistence to healthcare telemedicine.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PSO2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Designed and implemented cutting-edge artificial intelligence and computer vision models (Attention U-Net) for automated clinical lesion decision support.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PSO3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Engineered deployable full-stack software combining PyTorch deep learning, FastAPI REST backends, and SQLite edge storage with end-to-end fault tolerance.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CA642D-6B20-9130-7B6B-4B32AD980CD1}"/>
              </a:ext>
            </a:extLst>
          </p:cNvPr>
          <p:cNvSpPr txBox="1"/>
          <p:nvPr/>
        </p:nvSpPr>
        <p:spPr>
          <a:xfrm>
            <a:off x="158496" y="6304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16914"/>
            <a:ext cx="11064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000000"/>
                </a:solidFill>
                <a:latin typeface="Times New Roman"/>
              </a:rPr>
              <a:t>Sustainable Development Goals (SDGs)</a:t>
            </a:r>
            <a:endParaRPr sz="3600" b="1" i="0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 dirty="0">
                <a:solidFill>
                  <a:srgbClr val="767676"/>
                </a:solidFill>
                <a:latin typeface="Times New Roman"/>
              </a:rPr>
              <a:t>This project aligns with the United Nations Sustainable Development Goals: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CC30B"/>
          </a:solidFill>
          <a:ln>
            <a:noFill/>
          </a:ln>
        </p:spPr>
        <p:txBody>
          <a:bodyPr rtlCol="0" anchor="ctr"/>
          <a:lstStyle/>
          <a:p>
            <a:pPr>
              <a:defRPr sz="1300" b="1"/>
            </a:pPr>
            <a:r>
              <a:t>SDG</a:t>
            </a:r>
          </a:p>
          <a:p>
            <a:pPr>
              <a:defRPr sz="1300" b="1"/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87452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Good Health and Well-Being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Enables early, accurate, and automated screening for liver cancer and lesions in rural, semi-urban, and underserved healthcare facilities, reducing diagnostic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D6925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 dirty="0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7452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Industry, Innovation and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60604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Builds robust, privacy-preserving digital healthcare telemedicine infrastructure connecting remote diagnostic centers with centralized medical intelligence.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BF8B2E"/>
          </a:solidFill>
          <a:ln>
            <a:noFill/>
          </a:ln>
        </p:spPr>
        <p:txBody>
          <a:bodyPr rtlCol="0" anchor="ctr"/>
          <a:lstStyle/>
          <a:p>
            <a:pPr>
              <a:defRPr sz="1300" b="1"/>
            </a:pPr>
            <a:r>
              <a:t>SDG</a:t>
            </a:r>
          </a:p>
          <a:p>
            <a:pPr>
              <a:defRPr sz="1300" b="1"/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062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Reduced Inequalities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93776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Democratizes specialized tertiary oncology expertise, delivering high-quality diagnostic assistance to peripheral primary healthcare centers regardless of geographical 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3F7E44"/>
          </a:solidFill>
          <a:ln>
            <a:noFill/>
          </a:ln>
        </p:spPr>
        <p:txBody>
          <a:bodyPr rtlCol="0" anchor="ctr"/>
          <a:lstStyle/>
          <a:p>
            <a:pPr>
              <a:defRPr sz="1300" b="1"/>
            </a:pPr>
            <a:r>
              <a:t>SDG</a:t>
            </a:r>
          </a:p>
          <a:p>
            <a:pPr>
              <a:defRPr sz="1300" b="1"/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2062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Responsible Consumption &amp;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93776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Employs communication-efficient Top-20% sparsification (saving 79.6% network bandwidth) and edge CPU inference, drastically lowering datacenter compute and carbon footprint.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3355E-5CD0-5982-0DD8-1102356EF02A}"/>
              </a:ext>
            </a:extLst>
          </p:cNvPr>
          <p:cNvSpPr txBox="1"/>
          <p:nvPr/>
        </p:nvSpPr>
        <p:spPr>
          <a:xfrm>
            <a:off x="548640" y="63564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30897-B810-6CF0-3222-A4A1A4A7E949}"/>
              </a:ext>
            </a:extLst>
          </p:cNvPr>
          <p:cNvSpPr txBox="1"/>
          <p:nvPr/>
        </p:nvSpPr>
        <p:spPr>
          <a:xfrm>
            <a:off x="1365504" y="1945505"/>
            <a:ext cx="86807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1. Patent Status: </a:t>
            </a:r>
            <a:r>
              <a:rPr b="0">
                <a:solidFill>
                  <a:srgbClr val="334155"/>
                </a:solidFill>
              </a:rPr>
              <a:t>Under preliminary evaluation for institutional filing (Privacy-Preserving Edge Telemedicine Architecture).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2. Scopus-Indexed Conference Status: </a:t>
            </a:r>
            <a:r>
              <a:rPr b="0">
                <a:solidFill>
                  <a:srgbClr val="334155"/>
                </a:solidFill>
              </a:rPr>
              <a:t>Manuscript under preparation for presentation at IEEE International Conference on Telemedicine &amp; Healthcare Informatics (ICTHI 2026).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3. Scopus / SCI Journal Status: </a:t>
            </a:r>
            <a:r>
              <a:rPr b="0">
                <a:solidFill>
                  <a:srgbClr val="334155"/>
                </a:solidFill>
              </a:rPr>
              <a:t>Targeting publication in Computers in Biology and Medicine (Elsevier, SCI, IF: 7.7) or IEEE Journal of Biomedical and Health Informatics (JBHI).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4. Manuscript Status: </a:t>
            </a:r>
            <a:r>
              <a:rPr b="0">
                <a:solidFill>
                  <a:srgbClr val="334155"/>
                </a:solidFill>
              </a:rPr>
              <a:t>Complete draft finalized with real LiTS benchmark evaluation, comparative baselines, formal privacy accounting, and edge synchronization results.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5. Software Prototype Outcome: </a:t>
            </a:r>
            <a:r>
              <a:rPr b="0">
                <a:solidFill>
                  <a:srgbClr val="334155"/>
                </a:solidFill>
              </a:rPr>
              <a:t>Fully functional open-source software platform comprising PyTorch Attention U-Net-Lite, Flower FL server, Top-20% sparsifier, and SQLite WAL offline recovery manager.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1C577-85C4-56DD-9544-D3C098AC3863}"/>
              </a:ext>
            </a:extLst>
          </p:cNvPr>
          <p:cNvSpPr txBox="1"/>
          <p:nvPr/>
        </p:nvSpPr>
        <p:spPr>
          <a:xfrm>
            <a:off x="243840" y="37007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/>
              </a:rPr>
              <a:t>Project outcome :</a:t>
            </a:r>
          </a:p>
        </p:txBody>
      </p:sp>
    </p:spTree>
    <p:extLst>
      <p:ext uri="{BB962C8B-B14F-4D97-AF65-F5344CB8AC3E}">
        <p14:creationId xmlns:p14="http://schemas.microsoft.com/office/powerpoint/2010/main" val="184312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Conclusion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78EEC-0DB4-5458-36A9-537800B52FF4}"/>
              </a:ext>
            </a:extLst>
          </p:cNvPr>
          <p:cNvSpPr txBox="1"/>
          <p:nvPr/>
        </p:nvSpPr>
        <p:spPr>
          <a:xfrm>
            <a:off x="1621536" y="1044666"/>
            <a:ext cx="813206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66534"/>
                </a:solidFill>
              </a:defRPr>
            </a:pPr>
            <a:r>
              <a:t>Percentage of Project Completion: 85% (Review-II Stage)</a:t>
            </a:r>
          </a:p>
          <a:p>
            <a:br/>
            <a:pPr>
              <a:defRPr b="1" sz="1150">
                <a:solidFill>
                  <a:srgbClr val="0284C7"/>
                </a:solidFill>
              </a:defRPr>
            </a:pPr>
            <a:r>
              <a:t>List of Completed Work (Phases 1 &amp; 2):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1. Real LiTS CT Data Acquisition: 51 patient volumes acquired, 782 axial slices extracted from a 6-patient volumetric cohort ([-100, 400] HU).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2. Zero Intra-Patient Leakage: Strict patient ID splitting across train, validation, and held-out test sets (preliminary single-cohort benchmark).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3. Controlled Fair Benchmark: Proved CFL-Lite recovers +34.3% tumor Dice (0.7674 vs 0.4244) and reduces boundary error by 60.7% (HD95 22.62 mm vs 57.56 mm).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4. Clinical Boundary Metric: Implemented 95th Percentile Hausdorff Distance (HD95) via SciPy distance transform.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5. Privacy Verification: Evaluated Client-Level DP (reported budget ε=6.42, δ=10⁻⁵) and verified Zero-Sum Additive Masking dropout safety.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6. Bandwidth &amp; Edge Optimization: Top-20% gradient sparsification (79.6% savings) and TorchScript export (&lt;120 ms CPU latency).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✓ 7. Offline Telemedicine Resilience: Investigational SQLite WAL store-and-forward queue verified with zero data loss during simulated blackouts.</a:t>
            </a:r>
          </a:p>
          <a:p>
            <a:br/>
            <a:pPr>
              <a:defRPr b="1" sz="1150">
                <a:solidFill>
                  <a:srgbClr val="B91C1C"/>
                </a:solidFill>
              </a:defRPr>
            </a:pPr>
            <a:r>
              <a:t>List of Pending Work (Phase 3 &amp; Review-III):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⏳ 1. Physical multi-device LAN deployment across distributed commodity laptops simulating 3 physical hospitals.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⏳ 2. Real-time WebRTC audio/video telemedicine consultation channel integration into the browser portal.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⏳ 3. Final supervisor review, research paper submission, and project viva demonstration rehearsal.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726A0-AE82-3DC3-2F36-F0D9223B8FAE}"/>
              </a:ext>
            </a:extLst>
          </p:cNvPr>
          <p:cNvSpPr txBox="1"/>
          <p:nvPr/>
        </p:nvSpPr>
        <p:spPr>
          <a:xfrm>
            <a:off x="1463040" y="5354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1. Lou, X., et al. 2026. 'FedLiverNet: A Federated Learning Framework for Privacy-Preserving and Efficient Liver Cancer Detection.' Scientific Reports 16, no. 1: 1042-1058.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2. Kumar, A., Verma, P., and Illés, B. 2025. 'Federated Learning with Explainable Artificial Intelligence for Liver Disease Prediction.' IEEE Journal of Biomedical and Health Informatics 29, no. 3: 1120-1131.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3. Lee, H., Lien, C., and Chain, Y. 2025. 'Semi-Supervised Federated CT Liver Tumor Detection Using Teacher-Student Self-Attention Networks.' Medical Image Analysis 92: 103045.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4. McMahan, B., Moore, E., Ramage, D., Hampson, S., and y Arcas, B.A. 2017. 'Communication-Efficient Learning of Deep Networks from Decentralized Data.' In AISTATS, 1273-1282.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5. Perez, M., et al. 2025. 'Artificial Intelligence and Telemedicine in Rural Communities: Overcoming Infrastructure Barriers.' The Lancet Digital Health 7, no. 2: e112-e124.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6. Sattler, F., Wiedemann, S., Müller, K.R., and Samek, W. 2020. 'Clustered Federated Learning: Model-Agnostic Distributed Multi-Task Optimization Under Non-IID Data.' IEEE TNNLS 32, no. 8: 3710-3722.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7. Dwork, C., and Roth, A. 2014. 'The Algorithmic Foundations of Differential Privacy.' Foundations and Trends in Theoretical Computer Science 9, no. 3-4: 211-407.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8. Bilic, P., et al. 2023. 'The Liver Tumor Segmentation Benchmark (LiTS).' Medical Image Analysis 84: 102680.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702</Words>
  <Application>Microsoft Office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Microsoft JhengHei UI</vt:lpstr>
      <vt:lpstr>Arial</vt:lpstr>
      <vt:lpstr>Arial Black</vt:lpstr>
      <vt:lpstr>Arial Rounded MT Bold</vt:lpstr>
      <vt:lpstr>Calibri</vt:lpstr>
      <vt:lpstr>Gill Sans MT</vt:lpstr>
      <vt:lpstr>Sitka Heading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Elizabeth Caroline</dc:creator>
  <cp:keywords/>
  <dc:description>generated using python-pptx</dc:description>
  <cp:lastModifiedBy>Elizabeth Caroline</cp:lastModifiedBy>
  <cp:revision>18</cp:revision>
  <dcterms:created xsi:type="dcterms:W3CDTF">2013-01-27T09:14:16Z</dcterms:created>
  <dcterms:modified xsi:type="dcterms:W3CDTF">2026-10-13T07:28:37Z</dcterms:modified>
  <cp:category/>
</cp:coreProperties>
</file>